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a017da3-69b8-cb5a-150e-eb16fcfff3ca}">
          <p14:sldIdLst>
            <p14:sldId id="256"/>
            <p14:sldId id="257"/>
            <p14:sldId id="258"/>
          </p14:sldIdLst>
        </p14:section>
        <p14:section name="Data and preprocessing" id="{d813ebb0-9bb4-c117-6223-41ca99ddda61}">
          <p14:sldIdLst>
            <p14:sldId id="259"/>
            <p14:sldId id="260"/>
          </p14:sldIdLst>
        </p14:section>
        <p14:section name="Analysis" id="{17950d79-5972-c574-61a5-ce5e14f2baa2}">
          <p14:sldIdLst>
            <p14:sldId id="261"/>
            <p14:sldId id="262"/>
          </p14:sldIdLst>
        </p14:section>
        <p14:section name="Modelling" id="{c7eefc20-31f2-56a2-53d6-b81cdb3fca94}">
          <p14:sldIdLst>
            <p14:sldId id="263"/>
            <p14:sldId id="264"/>
          </p14:sldIdLst>
        </p14:section>
        <p14:section name="Evaluation" id="{69bd0f4a-481b-ecdf-5dd9-f2e3cd418287}">
          <p14:sldIdLst>
            <p14:sldId id="265"/>
            <p14:sldId id="266"/>
            <p14:sldId id="267"/>
          </p14:sldIdLst>
        </p14:section>
        <p14:section name="Business impact" id="{e70f0a0c-8479-3650-cdbd-fc597f4c06cd}">
          <p14:sldIdLst>
            <p14:sldId id="268"/>
            <p14:sldId id="269"/>
          </p14:sldIdLst>
        </p14:section>
        <p14:section name="Wrap-up" id="{75e1f013-11ef-9c39-bdd8-566e14806cbe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Preprocessing variants (CV F1)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F1 (Logistic Regression)</c:v>
                </c:pt>
              </c:strCache>
            </c:strRef>
          </c:tx>
          <c:spPr>
            <a:solidFill>
              <a:srgbClr val="1F6F7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0.8627</c:v>
                </c:pt>
                <c:pt idx="1">
                  <c:v>0.8634</c:v>
                </c:pt>
                <c:pt idx="2">
                  <c:v>0.8763</c:v>
                </c:pt>
                <c:pt idx="3">
                  <c:v>0.8762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8"/>
        </c:scaling>
        <c:delete val="0"/>
        <c:axPos val="l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Baseline CV ROC-AUC (5×3 stratified CV)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ROC-AUC</c:v>
                </c:pt>
              </c:strCache>
            </c:strRef>
          </c:tx>
          <c:spPr>
            <a:solidFill>
              <a:srgbClr val="C6283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Random Forest</c:v>
                  </c:pt>
                  <c:pt idx="1">
                    <c:v>Logistic Regression</c:v>
                  </c:pt>
                  <c:pt idx="2">
                    <c:v>Gradient Boosting</c:v>
                  </c:pt>
                  <c:pt idx="3">
                    <c:v>SVM (RBF)</c:v>
                  </c:pt>
                  <c:pt idx="4">
                    <c:v>Naive Bayes</c:v>
                  </c:pt>
                  <c:pt idx="5">
                    <c:v>KNN</c:v>
                  </c:pt>
                  <c:pt idx="6">
                    <c:v>Decision Tree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0.9268</c:v>
                </c:pt>
                <c:pt idx="1">
                  <c:v>0.9257</c:v>
                </c:pt>
                <c:pt idx="2">
                  <c:v>0.9233</c:v>
                </c:pt>
                <c:pt idx="3">
                  <c:v>0.9202</c:v>
                </c:pt>
                <c:pt idx="4">
                  <c:v>0.9118</c:v>
                </c:pt>
                <c:pt idx="5">
                  <c:v>0.892</c:v>
                </c:pt>
                <c:pt idx="6">
                  <c:v>0.7963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b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Observed disease rate per tier (out-of-fold)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disease rate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A0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283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 risk</c:v>
                  </c:pt>
                  <c:pt idx="1">
                    <c:v>Moderate risk</c:v>
                  </c:pt>
                  <c:pt idx="2">
                    <c:v>High risk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0.0375</c:v>
                </c:pt>
                <c:pt idx="1">
                  <c:v>0.2746478873239437</c:v>
                </c:pt>
                <c:pt idx="2">
                  <c:v>0.8582089552238806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predicting heart disease from routine clinical data so doctors can prioritise patients for cardiology referral. Headline results are from the untouched hold-out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problem: capacity-limited referral decisions where a missed patient is far costlier than an unnecessary referral.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669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D5DBE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Heart Disease Risk Triage · AIDS PBL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 Risk Prediction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BE3"/>
                </a:solidFill>
              </a:rPr>
              <a:t>A leakage-free machine-learning pipeline for clinical triage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5DBE3"/>
                </a:solidFill>
              </a:rPr>
              <a:t>AIDS Department · Problem-Based Learning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5DBE3"/>
                </a:solidFill>
              </a:rPr>
              <a:t>Rohit Dnyaneshwar Mahale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5DBE3"/>
                </a:solidFill>
              </a:rPr>
              <a:t>PRN 2125UDSM2043 · TY AIDS-B</a:t>
            </a:r>
            <a:endParaRPr lang="en-US" sz="1600" dirty="0"/>
          </a:p>
        </p:txBody>
      </p:sp>
      <p:sp>
        <p:nvSpPr>
          <p:cNvPr id="4" name="KPI card 1"/>
          <p:cNvSpPr/>
          <p:nvPr/>
        </p:nvSpPr>
        <p:spPr>
          <a:xfrm>
            <a:off x="6492240" y="822960"/>
            <a:ext cx="21945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29400" y="868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62940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5DB"/>
                </a:solidFill>
              </a:rPr>
              <a:t>ROC-AUC (test)</a:t>
            </a:r>
            <a:endParaRPr lang="en-US" sz="1200" dirty="0"/>
          </a:p>
        </p:txBody>
      </p:sp>
      <p:sp>
        <p:nvSpPr>
          <p:cNvPr id="7" name="KPI card 2"/>
          <p:cNvSpPr/>
          <p:nvPr/>
        </p:nvSpPr>
        <p:spPr>
          <a:xfrm>
            <a:off x="6492240" y="2148840"/>
            <a:ext cx="21945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788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5DB"/>
                </a:solidFill>
              </a:rPr>
              <a:t>Recall — sick patients caught</a:t>
            </a:r>
            <a:endParaRPr lang="en-US" sz="1200" dirty="0"/>
          </a:p>
        </p:txBody>
      </p:sp>
      <p:sp>
        <p:nvSpPr>
          <p:cNvPr id="10" name="KPI card 3"/>
          <p:cNvSpPr/>
          <p:nvPr/>
        </p:nvSpPr>
        <p:spPr>
          <a:xfrm>
            <a:off x="6492240" y="3474720"/>
            <a:ext cx="21945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−65%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5DB"/>
                </a:solidFill>
              </a:rPr>
              <a:t>Specialist referrals*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4709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3BF"/>
                </a:solidFill>
              </a:rPr>
              <a:t>*projected at 20% disease prevalence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who gets a cardiologist first?</a:t>
            </a:r>
            <a:endParaRPr lang="en-US" sz="3000" dirty="0"/>
          </a:p>
        </p:txBody>
      </p:sp>
      <p:sp>
        <p:nvSpPr>
          <p:cNvPr id="3" name="WHO stat card"/>
          <p:cNvSpPr/>
          <p:nvPr/>
        </p:nvSpPr>
        <p:spPr>
          <a:xfrm>
            <a:off x="457200" y="105156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WHO stat value"/>
          <p:cNvSpPr txBox="1"/>
          <p:nvPr/>
        </p:nvSpPr>
        <p:spPr>
          <a:xfrm>
            <a:off x="548640" y="11247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17.9 M</a:t>
            </a:r>
            <a:endParaRPr lang="en-US" sz="3200" dirty="0"/>
          </a:p>
        </p:txBody>
      </p:sp>
      <p:sp>
        <p:nvSpPr>
          <p:cNvPr id="5" name="WHO stat label"/>
          <p:cNvSpPr txBox="1"/>
          <p:nvPr/>
        </p:nvSpPr>
        <p:spPr>
          <a:xfrm>
            <a:off x="548640" y="17099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CVD deaths per year worldwide (WHO)</a:t>
            </a:r>
            <a:endParaRPr lang="en-US" sz="1200" dirty="0"/>
          </a:p>
        </p:txBody>
      </p:sp>
      <p:sp>
        <p:nvSpPr>
          <p:cNvPr id="6" name="Capacity stat card"/>
          <p:cNvSpPr/>
          <p:nvPr/>
        </p:nvSpPr>
        <p:spPr>
          <a:xfrm>
            <a:off x="3246120" y="105156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pacity stat value"/>
          <p:cNvSpPr txBox="1"/>
          <p:nvPr/>
        </p:nvSpPr>
        <p:spPr>
          <a:xfrm>
            <a:off x="3337560" y="11247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</a:t>
            </a:r>
            <a:endParaRPr lang="en-US" sz="3200" dirty="0"/>
          </a:p>
        </p:txBody>
      </p:sp>
      <p:sp>
        <p:nvSpPr>
          <p:cNvPr id="8" name="Capacity stat label"/>
          <p:cNvSpPr txBox="1"/>
          <p:nvPr/>
        </p:nvSpPr>
        <p:spPr>
          <a:xfrm>
            <a:off x="3337560" y="17099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cardiology slots, ECG &amp; stress-test capacity</a:t>
            </a:r>
            <a:endParaRPr lang="en-US" sz="1200" dirty="0"/>
          </a:p>
        </p:txBody>
      </p:sp>
      <p:sp>
        <p:nvSpPr>
          <p:cNvPr id="9" name="Cost stat card"/>
          <p:cNvSpPr/>
          <p:nvPr/>
        </p:nvSpPr>
        <p:spPr>
          <a:xfrm>
            <a:off x="6035040" y="1051560"/>
            <a:ext cx="2651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ost stat value"/>
          <p:cNvSpPr txBox="1"/>
          <p:nvPr/>
        </p:nvSpPr>
        <p:spPr>
          <a:xfrm>
            <a:off x="6126480" y="11247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Costly</a:t>
            </a:r>
            <a:endParaRPr lang="en-US" sz="3200" dirty="0"/>
          </a:p>
        </p:txBody>
      </p:sp>
      <p:sp>
        <p:nvSpPr>
          <p:cNvPr id="11" name="Cost stat label"/>
          <p:cNvSpPr txBox="1"/>
          <p:nvPr/>
        </p:nvSpPr>
        <p:spPr>
          <a:xfrm>
            <a:off x="6126480" y="1709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 miss a sick patient (false negative)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974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Given routine screening measurements, predict whether a patient has heart disease so clinicians can prioritise high-risk patients for referral.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Stakeholders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69748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GPs and screening-camp doctors: fast second opinion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Cardiology and hospital admin: better capacity 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Patients: earlier detection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Insurers and public health: lower late-stage cost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success KPIs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Build a reproducible, leakage-free ML pipeline for HeartDisease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Prioritise recall: a missed patient is the costly error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Explain which clinical factors drive risk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Deliver Low / Moderate / High risk tiers and a web demo</a:t>
            </a:r>
            <a:endParaRPr lang="en-US" sz="1500" dirty="0"/>
          </a:p>
        </p:txBody>
      </p:sp>
      <p:graphicFrame>
        <p:nvGraphicFramePr>
          <p:cNvPr id="4" name="KPI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KPI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Target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Achieved (test)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0.90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</a:rPr>
                        <a:t>0.92  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Precision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0.80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</a:rPr>
                        <a:t>0.85  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F1-score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0.85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</a:rPr>
                        <a:t>0.88  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ROC-AUC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0.90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</a:rPr>
                        <a:t>0.93  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663440" y="3886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Measured once on a 184-patient hold-out set never used for tuning.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hidden quality problem</a:t>
            </a:r>
            <a:endParaRPr lang="en-US" sz="3000" dirty="0"/>
          </a:p>
        </p:txBody>
      </p:sp>
      <p:sp>
        <p:nvSpPr>
          <p:cNvPr id="3" name="Data stat 1 card"/>
          <p:cNvSpPr/>
          <p:nvPr/>
        </p:nvSpPr>
        <p:spPr>
          <a:xfrm>
            <a:off x="457200" y="960120"/>
            <a:ext cx="1965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ata stat 1 value"/>
          <p:cNvSpPr txBox="1"/>
          <p:nvPr/>
        </p:nvSpPr>
        <p:spPr>
          <a:xfrm>
            <a:off x="548640" y="103327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918</a:t>
            </a:r>
            <a:endParaRPr lang="en-US" sz="3200" dirty="0"/>
          </a:p>
        </p:txBody>
      </p:sp>
      <p:sp>
        <p:nvSpPr>
          <p:cNvPr id="5" name="Data stat 1 label"/>
          <p:cNvSpPr txBox="1"/>
          <p:nvPr/>
        </p:nvSpPr>
        <p:spPr>
          <a:xfrm>
            <a:off x="548640" y="16184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patients, 11 features</a:t>
            </a:r>
            <a:endParaRPr lang="en-US" sz="1200" dirty="0"/>
          </a:p>
        </p:txBody>
      </p:sp>
      <p:sp>
        <p:nvSpPr>
          <p:cNvPr id="6" name="Data stat 2 card"/>
          <p:cNvSpPr/>
          <p:nvPr/>
        </p:nvSpPr>
        <p:spPr>
          <a:xfrm>
            <a:off x="2560320" y="960120"/>
            <a:ext cx="1965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Data stat 2 value"/>
          <p:cNvSpPr txBox="1"/>
          <p:nvPr/>
        </p:nvSpPr>
        <p:spPr>
          <a:xfrm>
            <a:off x="2651760" y="103327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18.7%</a:t>
            </a:r>
            <a:endParaRPr lang="en-US" sz="3200" dirty="0"/>
          </a:p>
        </p:txBody>
      </p:sp>
      <p:sp>
        <p:nvSpPr>
          <p:cNvPr id="8" name="Data stat 2 label"/>
          <p:cNvSpPr txBox="1"/>
          <p:nvPr/>
        </p:nvSpPr>
        <p:spPr>
          <a:xfrm>
            <a:off x="2651760" y="16184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cholesterol recorded as 0</a:t>
            </a:r>
            <a:endParaRPr lang="en-US" sz="1200" dirty="0"/>
          </a:p>
        </p:txBody>
      </p:sp>
      <p:sp>
        <p:nvSpPr>
          <p:cNvPr id="9" name="Data stat 3 card"/>
          <p:cNvSpPr/>
          <p:nvPr/>
        </p:nvSpPr>
        <p:spPr>
          <a:xfrm>
            <a:off x="4663440" y="960120"/>
            <a:ext cx="1965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ata stat 3 value"/>
          <p:cNvSpPr txBox="1"/>
          <p:nvPr/>
        </p:nvSpPr>
        <p:spPr>
          <a:xfrm>
            <a:off x="4754880" y="103327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3200" dirty="0"/>
          </a:p>
        </p:txBody>
      </p:sp>
      <p:sp>
        <p:nvSpPr>
          <p:cNvPr id="11" name="Data stat 3 label"/>
          <p:cNvSpPr txBox="1"/>
          <p:nvPr/>
        </p:nvSpPr>
        <p:spPr>
          <a:xfrm>
            <a:off x="4754880" y="16184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disease rate when cholesterol = 0 (vs 48%)</a:t>
            </a:r>
            <a:endParaRPr lang="en-US" sz="1200" dirty="0"/>
          </a:p>
        </p:txBody>
      </p:sp>
      <p:sp>
        <p:nvSpPr>
          <p:cNvPr id="12" name="Data stat 4 card"/>
          <p:cNvSpPr/>
          <p:nvPr/>
        </p:nvSpPr>
        <p:spPr>
          <a:xfrm>
            <a:off x="6766560" y="960120"/>
            <a:ext cx="1965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ata stat 4 value"/>
          <p:cNvSpPr txBox="1"/>
          <p:nvPr/>
        </p:nvSpPr>
        <p:spPr>
          <a:xfrm>
            <a:off x="6858000" y="103327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 / 45</a:t>
            </a:r>
            <a:endParaRPr lang="en-US" sz="3200" dirty="0"/>
          </a:p>
        </p:txBody>
      </p:sp>
      <p:sp>
        <p:nvSpPr>
          <p:cNvPr id="14" name="Data stat 4 label"/>
          <p:cNvSpPr txBox="1"/>
          <p:nvPr/>
        </p:nvSpPr>
        <p:spPr>
          <a:xfrm>
            <a:off x="6858000" y="16184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% disease / healthy: balanced</a:t>
            </a:r>
            <a:endParaRPr lang="en-US" sz="1200" dirty="0"/>
          </a:p>
        </p:txBody>
      </p:sp>
      <p:pic>
        <p:nvPicPr>
          <p:cNvPr id="15" name="Cholesterol before-after" descr="03 cholesterol before af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60032"/>
            <a:ext cx="8229600" cy="188073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Left to right: raw data (spike at 0) · original mean-fill (artificial spike) · improved median-fill + missing flag. Zeros mean "not measured", and that itself predicts disease.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Leakage-safe preprocessing pipeline</a:t>
            </a:r>
            <a:endParaRPr lang="en-US" sz="3000" dirty="0"/>
          </a:p>
        </p:txBody>
      </p:sp>
      <p:sp>
        <p:nvSpPr>
          <p:cNvPr id="3" name="Step card 1"/>
          <p:cNvSpPr/>
          <p:nvPr/>
        </p:nvSpPr>
        <p:spPr>
          <a:xfrm>
            <a:off x="457200" y="1234440"/>
            <a:ext cx="1234440" cy="173736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984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Stratified split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80 / 20, test set locked</a:t>
            </a:r>
            <a:endParaRPr lang="en-US" sz="1200" dirty="0"/>
          </a:p>
        </p:txBody>
      </p:sp>
      <p:sp>
        <p:nvSpPr>
          <p:cNvPr id="7" name="Step card 2"/>
          <p:cNvSpPr/>
          <p:nvPr/>
        </p:nvSpPr>
        <p:spPr>
          <a:xfrm>
            <a:off x="1828800" y="1234440"/>
            <a:ext cx="1234440" cy="173736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0240" y="12984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Zero → NaN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2860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 Chol_Missing flag</a:t>
            </a:r>
            <a:endParaRPr lang="en-US" sz="1200" dirty="0"/>
          </a:p>
        </p:txBody>
      </p:sp>
      <p:sp>
        <p:nvSpPr>
          <p:cNvPr id="11" name="Step card 3"/>
          <p:cNvSpPr/>
          <p:nvPr/>
        </p:nvSpPr>
        <p:spPr>
          <a:xfrm>
            <a:off x="3200400" y="1234440"/>
            <a:ext cx="1234440" cy="173736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12984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Median impute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2860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learned on train only</a:t>
            </a:r>
            <a:endParaRPr lang="en-US" sz="1200" dirty="0"/>
          </a:p>
        </p:txBody>
      </p:sp>
      <p:sp>
        <p:nvSpPr>
          <p:cNvPr id="15" name="Step card 4"/>
          <p:cNvSpPr/>
          <p:nvPr/>
        </p:nvSpPr>
        <p:spPr>
          <a:xfrm>
            <a:off x="4572000" y="1234440"/>
            <a:ext cx="1234440" cy="173736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12984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IQR clipping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2860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outliers capped</a:t>
            </a:r>
            <a:endParaRPr lang="en-US" sz="1200" dirty="0"/>
          </a:p>
        </p:txBody>
      </p:sp>
      <p:sp>
        <p:nvSpPr>
          <p:cNvPr id="19" name="Step card 5"/>
          <p:cNvSpPr/>
          <p:nvPr/>
        </p:nvSpPr>
        <p:spPr>
          <a:xfrm>
            <a:off x="5943600" y="1234440"/>
            <a:ext cx="1234440" cy="173736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12984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Scale + encode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22860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Standard + one-hot</a:t>
            </a:r>
            <a:endParaRPr lang="en-US" sz="1200" dirty="0"/>
          </a:p>
        </p:txBody>
      </p:sp>
      <p:sp>
        <p:nvSpPr>
          <p:cNvPr id="23" name="Step card 6"/>
          <p:cNvSpPr/>
          <p:nvPr/>
        </p:nvSpPr>
        <p:spPr>
          <a:xfrm>
            <a:off x="7315200" y="1234440"/>
            <a:ext cx="1234440" cy="173736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06640" y="12984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Model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22860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tuned by CV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statistic (median, IQR fences, scaler, encoder) is learned inside each CV fold — no leakage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same pipeline object is saved and reused by the web 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Outliers: only 0.2–3% per feature, so capped rather than deleted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the stress test tells the story</a:t>
            </a:r>
            <a:endParaRPr lang="en-US" sz="3000" dirty="0"/>
          </a:p>
        </p:txBody>
      </p:sp>
      <p:pic>
        <p:nvPicPr>
          <p:cNvPr id="3" name="Disease rate by category" descr="04 categorical vs 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13593"/>
            <a:ext cx="5394960" cy="255065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0" y="1097280"/>
            <a:ext cx="2834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 slope Flat / Down: 83% / 78% disease vs 20% for Up (Cramér's V = 0.62)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Asymptomatic chest pain: 79% vs 14% for atypical angina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Exercise angina: 85% vs 35%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Men 63% vs women 26%; fasting sugar &gt; 120: 79% vs 48%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MaxHR and Oldpeak: strongest numeric effects (r = 0.47)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earns its place</a:t>
            </a:r>
            <a:endParaRPr lang="en-US" sz="3000" dirty="0"/>
          </a:p>
        </p:txBody>
      </p:sp>
      <p:graphicFrame>
        <p:nvGraphicFramePr>
          <p:cNvPr id="3" name="Ablation chart" descr=""/>
          <p:cNvGraphicFramePr/>
          <p:nvPr/>
        </p:nvGraphicFramePr>
        <p:xfrm>
          <a:off x="365760" y="91440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 = raw   B = +clip   C = +FE   D = +FE +clip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Engineered features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3258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Chol_Missing: 90% vs 48% disease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HR_Pct_Max = MaxHR / (220 − Age)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ST_Depression: Oldpeak ≥ 1 mm (77% vs 37%)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Hypertensive, Chol_High flags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Top-14 selection: +0.004 AUC, within noise, so all features kept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3749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FE lifts Logistic-Regression F1 from 0.863 to 0.876; clipping is neutral and kept for robustness.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algorithms, one fair protocol</a:t>
            </a:r>
            <a:endParaRPr lang="en-US" sz="3000" dirty="0"/>
          </a:p>
        </p:txBody>
      </p:sp>
      <p:graphicFrame>
        <p:nvGraphicFramePr>
          <p:cNvPr id="3" name="Baseline chart" descr=""/>
          <p:cNvGraphicFramePr/>
          <p:nvPr/>
        </p:nvGraphicFramePr>
        <p:xfrm>
          <a:off x="365760" y="91440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09728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pipeline for every model, so no leakage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RF, LR, SVM, GB cluster at AUC 0.92–0.93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Single decision tree is weakest (0.80): high variance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Hold-out test set untouched until the 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and final model: Random Forest</a:t>
            </a:r>
            <a:endParaRPr lang="en-US" sz="3000" dirty="0"/>
          </a:p>
        </p:txBody>
      </p:sp>
      <p:graphicFrame>
        <p:nvGraphicFramePr>
          <p:cNvPr id="10" name="Tuned mode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120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731520"/>
                <a:gridCol w="914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Tuned model (CV)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ROC-AUC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Gradient Boosting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0.877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9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0.906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9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0.878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9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0.931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9D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Voting Ensemble (LR+SVM+RF)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0.898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0.877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Logistic Regression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0.889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0.876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SVM (RBF)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0.896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0.874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0.925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KNN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0.893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0.876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Selection rule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852160" y="146304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Declared in advance: highest CV AUC; ties within 0.002 go to higher F1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GB 0.9316 vs RF 0.9314: tie, RF wins on F1 and recall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Voting ensemble gave no gain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RF: depth 6, leaf 3, 300 trees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Chosen using cross-validation only — never the test set.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results: 8 of 102 sick patients missed</a:t>
            </a:r>
            <a:endParaRPr lang="en-US" sz="3000" dirty="0"/>
          </a:p>
        </p:txBody>
      </p:sp>
      <p:pic>
        <p:nvPicPr>
          <p:cNvPr id="3" name="Confusion matrices" descr="07 confusion matr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25785"/>
            <a:ext cx="4754880" cy="1954670"/>
          </a:xfrm>
          <a:prstGeom prst="rect">
            <a:avLst/>
          </a:prstGeom>
        </p:spPr>
      </p:pic>
      <p:sp>
        <p:nvSpPr>
          <p:cNvPr id="4" name="Test Recall card"/>
          <p:cNvSpPr/>
          <p:nvPr/>
        </p:nvSpPr>
        <p:spPr>
          <a:xfrm>
            <a:off x="5303520" y="914400"/>
            <a:ext cx="16459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st Recall value"/>
          <p:cNvSpPr txBox="1"/>
          <p:nvPr/>
        </p:nvSpPr>
        <p:spPr>
          <a:xfrm>
            <a:off x="5394960" y="9875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0.922</a:t>
            </a:r>
            <a:endParaRPr lang="en-US" sz="3200" dirty="0"/>
          </a:p>
        </p:txBody>
      </p:sp>
      <p:sp>
        <p:nvSpPr>
          <p:cNvPr id="6" name="Test Recall label"/>
          <p:cNvSpPr txBox="1"/>
          <p:nvPr/>
        </p:nvSpPr>
        <p:spPr>
          <a:xfrm>
            <a:off x="539496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Recall</a:t>
            </a:r>
            <a:endParaRPr lang="en-US" sz="1200" dirty="0"/>
          </a:p>
        </p:txBody>
      </p:sp>
      <p:sp>
        <p:nvSpPr>
          <p:cNvPr id="7" name="Test Precision card"/>
          <p:cNvSpPr/>
          <p:nvPr/>
        </p:nvSpPr>
        <p:spPr>
          <a:xfrm>
            <a:off x="7086600" y="914400"/>
            <a:ext cx="16459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st Precision value"/>
          <p:cNvSpPr txBox="1"/>
          <p:nvPr/>
        </p:nvSpPr>
        <p:spPr>
          <a:xfrm>
            <a:off x="7178040" y="9875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0.847</a:t>
            </a:r>
            <a:endParaRPr lang="en-US" sz="3200" dirty="0"/>
          </a:p>
        </p:txBody>
      </p:sp>
      <p:sp>
        <p:nvSpPr>
          <p:cNvPr id="9" name="Test Precision label"/>
          <p:cNvSpPr txBox="1"/>
          <p:nvPr/>
        </p:nvSpPr>
        <p:spPr>
          <a:xfrm>
            <a:off x="717804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Precision</a:t>
            </a:r>
            <a:endParaRPr lang="en-US" sz="1200" dirty="0"/>
          </a:p>
        </p:txBody>
      </p:sp>
      <p:sp>
        <p:nvSpPr>
          <p:cNvPr id="10" name="Test F1 card"/>
          <p:cNvSpPr/>
          <p:nvPr/>
        </p:nvSpPr>
        <p:spPr>
          <a:xfrm>
            <a:off x="5303520" y="2103120"/>
            <a:ext cx="16459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st F1 value"/>
          <p:cNvSpPr txBox="1"/>
          <p:nvPr/>
        </p:nvSpPr>
        <p:spPr>
          <a:xfrm>
            <a:off x="5394960" y="21762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0.883</a:t>
            </a:r>
            <a:endParaRPr lang="en-US" sz="3200" dirty="0"/>
          </a:p>
        </p:txBody>
      </p:sp>
      <p:sp>
        <p:nvSpPr>
          <p:cNvPr id="12" name="Test F1 label"/>
          <p:cNvSpPr txBox="1"/>
          <p:nvPr/>
        </p:nvSpPr>
        <p:spPr>
          <a:xfrm>
            <a:off x="5394960" y="27614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F1</a:t>
            </a:r>
            <a:endParaRPr lang="en-US" sz="1200" dirty="0"/>
          </a:p>
        </p:txBody>
      </p:sp>
      <p:sp>
        <p:nvSpPr>
          <p:cNvPr id="13" name="Test ROC-AUC card"/>
          <p:cNvSpPr/>
          <p:nvPr/>
        </p:nvSpPr>
        <p:spPr>
          <a:xfrm>
            <a:off x="7086600" y="2103120"/>
            <a:ext cx="16459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st ROC-AUC value"/>
          <p:cNvSpPr txBox="1"/>
          <p:nvPr/>
        </p:nvSpPr>
        <p:spPr>
          <a:xfrm>
            <a:off x="7178040" y="21762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0.926</a:t>
            </a:r>
            <a:endParaRPr lang="en-US" sz="3200" dirty="0"/>
          </a:p>
        </p:txBody>
      </p:sp>
      <p:sp>
        <p:nvSpPr>
          <p:cNvPr id="15" name="Test ROC-AUC label"/>
          <p:cNvSpPr txBox="1"/>
          <p:nvPr/>
        </p:nvSpPr>
        <p:spPr>
          <a:xfrm>
            <a:off x="7178040" y="27614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ROC-AUC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Standard threshold 0.50: recall 0.92, specificity 0.79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High-sensitivity 0.35: recall 0.96, precision 0.80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95% bootstrap CI — recall 0.865–0.971, AUC 0.883–0.962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CV AUC 0.931 ≈ test 0.926: no optimistic tuning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prediction</a:t>
            </a:r>
            <a:endParaRPr lang="en-US" sz="3000" dirty="0"/>
          </a:p>
        </p:txBody>
      </p:sp>
      <p:pic>
        <p:nvPicPr>
          <p:cNvPr id="3" name="Permutation importance" descr="07 permutation impor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86191"/>
            <a:ext cx="4572000" cy="280545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12080" y="914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Odds ratios (logistic companion)</a:t>
            </a:r>
            <a:endParaRPr lang="en-US" sz="1600" dirty="0"/>
          </a:p>
        </p:txBody>
      </p:sp>
      <p:graphicFrame>
        <p:nvGraphicFramePr>
          <p:cNvPr id="12" name="Odds ratio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325880"/>
          <a:ext cx="3566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Cholesterol not recorded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×3.7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Asymptomatic chest pain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×2.9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×2.8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Flat ST slope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×2.7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Exercise angina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×2.2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Upsloping ST (protective)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×0.31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212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ST_Slope alone costs 0.11 AUC when shuffled — 6× any other feature.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fails — and for whom</a:t>
            </a:r>
            <a:endParaRPr lang="en-US" sz="3000" dirty="0"/>
          </a:p>
        </p:txBody>
      </p:sp>
      <p:sp>
        <p:nvSpPr>
          <p:cNvPr id="3" name="Error card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airness card"/>
          <p:cNvSpPr/>
          <p:nvPr/>
        </p:nvSpPr>
        <p:spPr>
          <a:xfrm>
            <a:off x="4663440" y="10515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False negatives (8)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7 of 8 have an upsloping ST segment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Median MaxHR 159 vs 125 for caught cases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Lower Oldpeak: 0.45 vs 1.5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Looks healthy on the stress test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Low risk ≠ no risk: keep the clinician in the loop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Subgroup recall (test)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Men 0.93 · Age 60+ 0.96 · Age &lt; 50 0.89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Women: recall 0.83 but precision 0.45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38 women (6 sick) in test 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Early fairness flag: needs more female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Probabilities are slightly compressed: read as risk ranks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tiers turn scores into action</a:t>
            </a:r>
            <a:endParaRPr lang="en-US" sz="3000" dirty="0"/>
          </a:p>
        </p:txBody>
      </p:sp>
      <p:graphicFrame>
        <p:nvGraphicFramePr>
          <p:cNvPr id="3" name="Risk tier chart" descr=""/>
          <p:cNvGraphicFramePr/>
          <p:nvPr/>
        </p:nvGraphicFramePr>
        <p:xfrm>
          <a:off x="365760" y="914400"/>
          <a:ext cx="43891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Low 26% of patients · Moderate 15% · High 58%</a:t>
            </a:r>
            <a:endParaRPr lang="en-US" sz="1100" dirty="0"/>
          </a:p>
        </p:txBody>
      </p:sp>
      <p:sp>
        <p:nvSpPr>
          <p:cNvPr id="5" name="Capture stat card"/>
          <p:cNvSpPr/>
          <p:nvPr/>
        </p:nvSpPr>
        <p:spPr>
          <a:xfrm>
            <a:off x="5029200" y="91440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pture stat value"/>
          <p:cNvSpPr txBox="1"/>
          <p:nvPr/>
        </p:nvSpPr>
        <p:spPr>
          <a:xfrm>
            <a:off x="5120640" y="9875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90.6%</a:t>
            </a:r>
            <a:endParaRPr lang="en-US" sz="3200" dirty="0"/>
          </a:p>
        </p:txBody>
      </p:sp>
      <p:sp>
        <p:nvSpPr>
          <p:cNvPr id="7" name="Capture stat label"/>
          <p:cNvSpPr txBox="1"/>
          <p:nvPr/>
        </p:nvSpPr>
        <p:spPr>
          <a:xfrm>
            <a:off x="5120640" y="1572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all disease cases sit in the High tier</a:t>
            </a:r>
            <a:endParaRPr lang="en-US" sz="1200" dirty="0"/>
          </a:p>
        </p:txBody>
      </p:sp>
      <p:sp>
        <p:nvSpPr>
          <p:cNvPr id="8" name="Low stat card"/>
          <p:cNvSpPr/>
          <p:nvPr/>
        </p:nvSpPr>
        <p:spPr>
          <a:xfrm>
            <a:off x="6949440" y="91440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ow stat value"/>
          <p:cNvSpPr txBox="1"/>
          <p:nvPr/>
        </p:nvSpPr>
        <p:spPr>
          <a:xfrm>
            <a:off x="7040880" y="9875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3.8%</a:t>
            </a:r>
            <a:endParaRPr lang="en-US" sz="3200" dirty="0"/>
          </a:p>
        </p:txBody>
      </p:sp>
      <p:sp>
        <p:nvSpPr>
          <p:cNvPr id="10" name="Low stat label"/>
          <p:cNvSpPr txBox="1"/>
          <p:nvPr/>
        </p:nvSpPr>
        <p:spPr>
          <a:xfrm>
            <a:off x="7040880" y="1572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disease rate in the Low tier</a:t>
            </a:r>
            <a:endParaRPr lang="en-US" sz="1200" dirty="0"/>
          </a:p>
        </p:txBody>
      </p:sp>
      <p:sp>
        <p:nvSpPr>
          <p:cNvPr id="11" name="Referral stat card"/>
          <p:cNvSpPr/>
          <p:nvPr/>
        </p:nvSpPr>
        <p:spPr>
          <a:xfrm>
            <a:off x="5029200" y="210312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Referral stat value"/>
          <p:cNvSpPr txBox="1"/>
          <p:nvPr/>
        </p:nvSpPr>
        <p:spPr>
          <a:xfrm>
            <a:off x="5120640" y="21762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−65%</a:t>
            </a:r>
            <a:endParaRPr lang="en-US" sz="3200" dirty="0"/>
          </a:p>
        </p:txBody>
      </p:sp>
      <p:sp>
        <p:nvSpPr>
          <p:cNvPr id="13" name="Referral stat label"/>
          <p:cNvSpPr txBox="1"/>
          <p:nvPr/>
        </p:nvSpPr>
        <p:spPr>
          <a:xfrm>
            <a:off x="5120640" y="27614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referrals per 1,000 patients*</a:t>
            </a:r>
            <a:endParaRPr lang="en-US" sz="1200" dirty="0"/>
          </a:p>
        </p:txBody>
      </p:sp>
      <p:sp>
        <p:nvSpPr>
          <p:cNvPr id="14" name="Cost stat card"/>
          <p:cNvSpPr/>
          <p:nvPr/>
        </p:nvSpPr>
        <p:spPr>
          <a:xfrm>
            <a:off x="6949440" y="210312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ost stat value"/>
          <p:cNvSpPr txBox="1"/>
          <p:nvPr/>
        </p:nvSpPr>
        <p:spPr>
          <a:xfrm>
            <a:off x="7040880" y="21762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−21%</a:t>
            </a:r>
            <a:endParaRPr lang="en-US" sz="3200" dirty="0"/>
          </a:p>
        </p:txBody>
      </p:sp>
      <p:sp>
        <p:nvSpPr>
          <p:cNvPr id="16" name="Cost stat label"/>
          <p:cNvSpPr txBox="1"/>
          <p:nvPr/>
        </p:nvSpPr>
        <p:spPr>
          <a:xfrm>
            <a:off x="7040880" y="27614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cost vs refer-all in high-sensitivity mode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0" y="329184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*Assumes 20% prevalence and test sensitivity 0.92 / specificity 0.79: about 350 referrals instead of 1,000, catching 184 of 200 sick patients. In screening populations (10–30% prevalence) expected cost falls 46–71% at a 10:1 FN:FP cost ratio. At this dataset's 55% prevalence, the value is prioritisation, not cost.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recommendations</a:t>
            </a:r>
            <a:endParaRPr lang="en-US" sz="3000" dirty="0"/>
          </a:p>
        </p:txBody>
      </p:sp>
      <p:sp>
        <p:nvSpPr>
          <p:cNvPr id="3" name="Rec card 1"/>
          <p:cNvSpPr/>
          <p:nvPr/>
        </p:nvSpPr>
        <p:spPr>
          <a:xfrm>
            <a:off x="457200" y="1005840"/>
            <a:ext cx="4023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69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  Three-tier triage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3533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Low: routine · Moderate: review in weeks · High: fast-track cardiology</a:t>
            </a:r>
            <a:endParaRPr lang="en-US" sz="1200" dirty="0"/>
          </a:p>
        </p:txBody>
      </p:sp>
      <p:sp>
        <p:nvSpPr>
          <p:cNvPr id="6" name="Rec card 2"/>
          <p:cNvSpPr/>
          <p:nvPr/>
        </p:nvSpPr>
        <p:spPr>
          <a:xfrm>
            <a:off x="457200" y="1920240"/>
            <a:ext cx="4023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984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  Threshold by setting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677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0.50 where capacity is tight; 0.35 (recall 96%) for screening camps</a:t>
            </a:r>
            <a:endParaRPr lang="en-US" sz="1200" dirty="0"/>
          </a:p>
        </p:txBody>
      </p:sp>
      <p:sp>
        <p:nvSpPr>
          <p:cNvPr id="9" name="Rec card 3"/>
          <p:cNvSpPr/>
          <p:nvPr/>
        </p:nvSpPr>
        <p:spPr>
          <a:xfrm>
            <a:off x="457200" y="2834640"/>
            <a:ext cx="4023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898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  Record ST slope and angina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1821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two strongest predictors must always be captured</a:t>
            </a:r>
            <a:endParaRPr lang="en-US" sz="1200" dirty="0"/>
          </a:p>
        </p:txBody>
      </p:sp>
      <p:sp>
        <p:nvSpPr>
          <p:cNvPr id="12" name="Rec card 4"/>
          <p:cNvSpPr/>
          <p:nvPr/>
        </p:nvSpPr>
        <p:spPr>
          <a:xfrm>
            <a:off x="457200" y="3749040"/>
            <a:ext cx="4023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813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  Mandatory lipid profile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0965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19% have no cholesterol value and 88% of them are sick</a:t>
            </a:r>
            <a:endParaRPr lang="en-US" sz="1200" dirty="0"/>
          </a:p>
        </p:txBody>
      </p:sp>
      <p:sp>
        <p:nvSpPr>
          <p:cNvPr id="15" name="Rec card 5"/>
          <p:cNvSpPr/>
          <p:nvPr/>
        </p:nvSpPr>
        <p:spPr>
          <a:xfrm>
            <a:off x="4663440" y="1005840"/>
            <a:ext cx="4023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069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  Target silent high-risk groups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3533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 &gt; 55, diabetics, asymptomatic patients</a:t>
            </a:r>
            <a:endParaRPr lang="en-US" sz="1200" dirty="0"/>
          </a:p>
        </p:txBody>
      </p:sp>
      <p:sp>
        <p:nvSpPr>
          <p:cNvPr id="18" name="Rec card 6"/>
          <p:cNvSpPr/>
          <p:nvPr/>
        </p:nvSpPr>
        <p:spPr>
          <a:xfrm>
            <a:off x="4663440" y="1920240"/>
            <a:ext cx="4023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1984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  Clinician stays in the loop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22677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Show probability; never discharge a symptomatic low-risk patient on the model alone</a:t>
            </a:r>
            <a:endParaRPr lang="en-US" sz="1200" dirty="0"/>
          </a:p>
        </p:txBody>
      </p:sp>
      <p:sp>
        <p:nvSpPr>
          <p:cNvPr id="21" name="Rec card 7"/>
          <p:cNvSpPr/>
          <p:nvPr/>
        </p:nvSpPr>
        <p:spPr>
          <a:xfrm>
            <a:off x="4663440" y="2834640"/>
            <a:ext cx="4023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2898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7  Pilot before deployment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1821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Validate locally, add female data, monitor drift and subgroups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Deployment, limitations, next steps</a:t>
            </a:r>
            <a:endParaRPr lang="en-US" sz="3000" dirty="0"/>
          </a:p>
        </p:txBody>
      </p:sp>
      <p:sp>
        <p:nvSpPr>
          <p:cNvPr id="3" name="Deploy card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its card"/>
          <p:cNvSpPr/>
          <p:nvPr/>
        </p:nvSpPr>
        <p:spPr>
          <a:xfrm>
            <a:off x="4663440" y="10515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Streamlit demo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Enter 11 clinical inputs in the sidebar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Shows risk %, tier, decision and action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Standard / high-sensitivity toggle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"Why this score?" occlusion chart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Run: streamlit run app.py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Limitations and future work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Small pooled 1980s–90s data: needs local validation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Stress-test features are not available at a basic GP visit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Cholesterol missingness is not random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Next: SHAP, calibration, GP-lite model, more data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BE3"/>
                </a:solidFill>
              </a:rPr>
              <a:t>Rohit Dnyaneshwar Mahale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5DBE3"/>
                </a:solidFill>
              </a:rPr>
              <a:t>PRN 2125UDSM2043 · TY AIDS-B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5DBE3"/>
                </a:solidFill>
              </a:rPr>
              <a:t>Code, report and app are in the project repository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rtTriage">
  <a:themeElements>
    <a:clrScheme name="HeartTriage">
      <a:dk1>
        <a:srgbClr val="1B1F2A"/>
      </a:dk1>
      <a:lt1>
        <a:srgbClr val="FFFFFF"/>
      </a:lt1>
      <a:dk2>
        <a:srgbClr val="7A1030"/>
      </a:dk2>
      <a:lt2>
        <a:srgbClr val="F3F5F7"/>
      </a:lt2>
      <a:accent1>
        <a:srgbClr val="C62839"/>
      </a:accent1>
      <a:accent2>
        <a:srgbClr val="1F6F78"/>
      </a:accent2>
      <a:accent3>
        <a:srgbClr val="E9A03B"/>
      </a:accent3>
      <a:accent4>
        <a:srgbClr val="2E7D5B"/>
      </a:accent4>
      <a:accent5>
        <a:srgbClr val="5B6B7B"/>
      </a:accent5>
      <a:accent6>
        <a:srgbClr val="8E2C48"/>
      </a:accent6>
      <a:hlink>
        <a:srgbClr val="1F6F78"/>
      </a:hlink>
      <a:folHlink>
        <a:srgbClr val="5B6B7B"/>
      </a:folHlink>
    </a:clrScheme>
    <a:fontScheme name="HeartTria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Risk Prediction — PBL Presentation</dc:title>
  <dc:subject>PptxGenJS Presentation</dc:subject>
  <dc:creator>PptxGenJS</dc:creator>
  <cp:lastModifiedBy>PptxGenJS</cp:lastModifiedBy>
  <cp:revision>1</cp:revision>
  <dcterms:created xsi:type="dcterms:W3CDTF">2026-10-29T11:12:05Z</dcterms:created>
  <dcterms:modified xsi:type="dcterms:W3CDTF">2026-10-29T11:12:05Z</dcterms:modified>
</cp:coreProperties>
</file>